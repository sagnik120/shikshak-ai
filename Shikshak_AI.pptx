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19"/>
    <p:sldId id="261" r:id="rId7"/>
    <p:sldId id="269" r:id="rId20"/>
    <p:sldId id="267" r:id="rId18"/>
    <p:sldId id="265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6.xml"/><Relationship Id="rId20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08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Relationship Id="rId9" Type="http://schemas.openxmlformats.org/officeDocument/2006/relationships/image" Target="../media/image11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828800"/>
            <a:ext cx="5120640" cy="5120640"/>
          </a:xfrm>
          <a:prstGeom prst="ellipse">
            <a:avLst/>
          </a:prstGeom>
          <a:solidFill>
            <a:srgbClr val="1630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15600" y="-822960"/>
            <a:ext cx="2743200" cy="2743200"/>
          </a:xfrm>
          <a:prstGeom prst="ellipse">
            <a:avLst/>
          </a:prstGeom>
          <a:solidFill>
            <a:srgbClr val="2F5A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09960" y="-22860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5" name="Image 0" descr="/home/claude/shikshak/icons/graduation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587" y="-10973"/>
            <a:ext cx="1119226" cy="11192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4173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SHIKSHAK AI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Teacher That Doesn’t Just Answer — It Teaches.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Tutor for Learning AI  ·  Build Fast with AI: AI Build Challenge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98755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11" name="Image 1" descr="/home/claude/shiksha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82" y="4018422"/>
            <a:ext cx="421356" cy="4213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758184" y="4128516"/>
            <a:ext cx="256032" cy="201168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06908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2F5A8C"/>
          </a:solidFill>
          <a:ln w="12700">
            <a:solidFill>
              <a:srgbClr val="2E4D6B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23367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16" name="Image 2" descr="/home/claude/shikshak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602" y="4018422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3776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004304" y="4128516"/>
            <a:ext cx="256032" cy="201168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31520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47979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21" name="Image 3" descr="/home/claude/shikshak/icons/chart_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722" y="4018422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8388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22960" y="50749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109728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BINARY BRAINS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Sagnik Chandra </a:t>
            </a:r>
            <a:r>
              <a:rPr lang="en-US" sz="1600" i="1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 Leader)</a:t>
            </a:r>
            <a:r>
              <a:rPr lang="en-US" sz="1600" dirty="0">
                <a:solidFill>
                  <a:srgbClr val="5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Shrusti Jain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Is Still Too One-Size-Fits-All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5166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6" name="Image 0" descr="/home/claude/shikshak/icons/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74" y="1916582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Learning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receives the exact same content, at the same pace, regardless of what they already understand or where they struggle.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0070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1" name="Image 1" descr="/home/claude/shikshak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914" y="1916582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chatbots only react to what is asked. A student who doesn’t know the right question to ask gets little real help.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34974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6" name="Image 2" descr="/home/claude/shiksha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954" y="1916582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tutoring adapts beautifully to the learner, but it is expensive and depends entirely on tutor availability to scale.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22960" y="544068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 AI that can teach — not just respond.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Shikshak AI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uploads material or names a topic, sets their level and available time, and Shikshak AI turns that single request into a complete, personalised teaching session — from first explanation to final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33272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7" name="Image 0" descr="/home/claude/shikshak/icons/file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44" y="2350740"/>
            <a:ext cx="474025" cy="4740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/ Material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96389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435962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920594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2" name="Image 1" descr="/home/claude/shiksha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765" y="2350740"/>
            <a:ext cx="474025" cy="4740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09114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Context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083710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323283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807915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7" name="Image 2" descr="/home/claude/shikshak/icons/clipboard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87" y="2350740"/>
            <a:ext cx="474025" cy="4740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96435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71032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210605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695237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2" name="Image 3" descr="/home/claude/shikshak/icons/chalkboard_teach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408" y="2350740"/>
            <a:ext cx="474025" cy="4740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83757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858354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8097926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8582558" y="2258568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27" name="Image 4" descr="/home/claude/shikshak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4730" y="2350740"/>
            <a:ext cx="474025" cy="4740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71078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9745675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9985248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10469880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32" name="Image 5" descr="/home/claude/shikshak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2052" y="2350740"/>
            <a:ext cx="474025" cy="47402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058400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35" name="Text 27"/>
          <p:cNvSpPr txBox="1"/>
          <p:nvPr/>
        </p:nvSpPr>
        <p:spPr>
          <a:xfrm>
            <a:off x="822960" y="4279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900" b="1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 this chapter in 20 minutes. I’m a beginner.</a:t>
            </a: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600" dirty="0"/>
          </a:p>
        </p:txBody>
      </p:sp>
      <p:sp>
        <p:nvSpPr>
          <p:cNvPr id="36" name="Text 28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reads this one sentence as a full brief — goal, level, and time budget — and plans a real lesson around it, not just a single reply.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teaching that begins from where the learner actually is, not a generic starting point.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SHIKSHAK TEACHES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Answering to Teaching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runs on one repeating loop — the same rhythm a real teacher follows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classroom.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42616" y="23682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6" name="Image 0" descr="/home/claude/shiksha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589" y="2473269"/>
            <a:ext cx="539862" cy="5398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23160" y="2002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12484" y="2770028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p/>
        </p:txBody>
      </p:sp>
      <p:pic>
        <p:nvPicPr>
          <p:cNvPr id="9" name="Image 1" descr="/home/claude/shikshak/icons/clipboard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457" y="2875001"/>
            <a:ext cx="539862" cy="5398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19769" y="258103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014216" y="37398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2" name="Image 2" descr="/home/claude/shiksha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189" y="3844869"/>
            <a:ext cx="539862" cy="5398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98264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612484" y="4709764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p/>
        </p:txBody>
      </p:sp>
      <p:pic>
        <p:nvPicPr>
          <p:cNvPr id="15" name="Image 3" descr="/home/claude/shikshak/icons/play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457" y="4814737"/>
            <a:ext cx="539862" cy="5398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19769" y="537424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2642616" y="51114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8" name="Image 4" descr="/home/claude/shikshak/icons/question_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7589" y="5216469"/>
            <a:ext cx="539862" cy="53986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423160" y="5952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672748" y="4709764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p/>
        </p:txBody>
      </p:sp>
      <p:pic>
        <p:nvPicPr>
          <p:cNvPr id="21" name="Image 5" descr="/home/claude/shikshak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7721" y="4814737"/>
            <a:ext cx="539862" cy="5398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26551" y="537424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1271016" y="37398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4" name="Image 6" descr="/home/claude/shikshak/icons/syn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5989" y="3844869"/>
            <a:ext cx="539862" cy="53986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48056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1672748" y="2770028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p/>
        </p:txBody>
      </p:sp>
      <p:pic>
        <p:nvPicPr>
          <p:cNvPr id="27" name="Image 7" descr="/home/claude/shikshak/icons/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7721" y="2875001"/>
            <a:ext cx="539862" cy="53986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26551" y="258103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2304288" y="3401568"/>
            <a:ext cx="1426464" cy="14264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30" name="Text 20"/>
          <p:cNvSpPr txBox="1"/>
          <p:nvPr/>
        </p:nvSpPr>
        <p:spPr>
          <a:xfrm>
            <a:off x="2304288" y="340156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7178040" y="123444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32" name="Text 22"/>
          <p:cNvSpPr txBox="1"/>
          <p:nvPr/>
        </p:nvSpPr>
        <p:spPr>
          <a:xfrm>
            <a:off x="745236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Struggling Student, Step by Step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7452360" y="178308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answers incorrectly. Shikshak AI pinpoints exactly where the gap is, swaps in a new explanation or analogy, asks a follow-up question to check whether it landed, and only then moves the lesson forward.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7178040" y="32918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35" name="Image 8" descr="/home/claude/shiksha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410" y="3371210"/>
            <a:ext cx="408188" cy="40818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891272" y="32735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Plan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891272" y="3566160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before a single word is taught — what to cover, and in what order.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7178040" y="4187952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39" name="Image 9" descr="/home/claude/shiksha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410" y="4267322"/>
            <a:ext cx="408188" cy="40818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891272" y="416966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Demonstrate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7891272" y="4462272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delivered with examples and visuals suited to the learner’s level.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7178040" y="5084064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43" name="Image 10" descr="/home/claude/shikshak/icons/syn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410" y="5163434"/>
            <a:ext cx="408188" cy="408188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891272" y="506577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Adapt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7891272" y="5358384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reshapes what happens in the very next step.</a:t>
            </a:r>
            <a:endParaRPr lang="en-US" sz="1150" dirty="0"/>
          </a:p>
        </p:txBody>
      </p:sp>
      <p:sp>
        <p:nvSpPr>
          <p:cNvPr id="46" name="Text 33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Personalised, Adaptive Learning</a:t>
            </a:r>
            <a:endParaRPr lang="en-US" sz="2700" dirty="0"/>
          </a:p>
        </p:txBody>
      </p:sp>
      <p:sp>
        <p:nvSpPr>
          <p:cNvPr id="44" name="Text 33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Box 45"/>
          <p:cNvSpPr txBox="1"/>
          <p:nvPr/>
        </p:nvSpPr>
        <p:spPr>
          <a:xfrm>
            <a:off x="548640" y="1188720"/>
            <a:ext cx="1106424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B6B7A"/>
                </a:solidFill>
                <a:latin typeface="Calibri"/>
              </a:rPr>
              <a:t>Every feature maps to what a personalised AI tutor must do: guide, adjust, explain and practise.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1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8640" y="1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40" y="1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8640" y="1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Personalised Learning Path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40" y="2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A skill map and learning path built from the learner’s goal, level and time budget.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1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03400" y="1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3400" y="1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3400" y="1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Adaptive Difficulty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3400" y="2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A difficulty calibrator raises or lowers question difficulty from live performance.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1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98160" y="1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8160" y="1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18160" y="1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Adaptive Explanations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98160" y="2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A wrong answer triggers a simpler re-explanation with a fresh example, then a re-test.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3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8640" y="3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640" y="3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8640" y="3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Practice &amp; Spaced 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40" y="4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A Practice Lab with targeted questions and code challenges, plus spaced-repetition refresh.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3400" y="3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3400" y="3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03400" y="3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3400" y="3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Grounded in Your Material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400" y="4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Hybrid retrieval keeps every explanation tied to the learner’s own notes or textbook.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0" y="3800000"/>
            <a:ext cx="3566160" cy="18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298160" y="3950000"/>
            <a:ext cx="400000" cy="4000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98160" y="395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18160" y="3950000"/>
            <a:ext cx="274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English &amp; Hindi Voice Lessons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98160" y="4440000"/>
            <a:ext cx="324616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Lessons arrive with a spoken teacher, visual boards and captions in the learner’s language.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5800000"/>
            <a:ext cx="11064240" cy="52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800000"/>
            <a:ext cx="1106424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One learner, one path: every answer reshapes the next explanation, question and practice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E8A33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E3A5F"/>
                </a:solidFill>
                <a:latin typeface="Cambria"/>
              </a:rPr>
              <a:t>System Architecture</a:t>
            </a:r>
          </a:p>
        </p:txBody>
      </p:sp>
      <p:pic>
        <p:nvPicPr>
          <p:cNvPr id="4" name="Picture 3" descr="Shikshak AI System Architecture 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17" y="1330000"/>
            <a:ext cx="8884165" cy="5000000"/>
          </a:xfrm>
          <a:prstGeom prst="rect">
            <a:avLst/>
          </a:prstGeom>
          <a:ln w="12700">
            <a:solidFill>
              <a:srgbClr val="DDE5E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Calibri"/>
              </a:rPr>
              <a:t>SHIKSHAK AI  ·  BUILD FAST WITH AI  ·  AI BUILD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AI Tools</a:t>
            </a:r>
            <a:endParaRPr lang="en-US" sz="27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548640" y="1188720"/>
            <a:ext cx="1106424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B6B7A"/>
                </a:solidFill>
                <a:latin typeface="Calibri"/>
              </a:rPr>
              <a:t>A modern web stack, an agentic teaching engine and grounded retrieval, with every AI tool disclosed.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17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4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40" y="23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Next.js 16, React 19, TypeScript, Tailwind CSS. Real-time classroom over WebSocket.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7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340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Backend &amp;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3400" y="23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FastAPI, SQLAlchemy, SQLite (WAL). JWT auth with rotating refresh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7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816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AI Teaching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8160" y="23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Planner, Explainer, Questioner and Assessor agents on a 7-state teaching FSM.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40" y="35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Knowledge (RAG)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40" y="39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Document parsing, semantic chunking, hybrid retrieval, reranking and a grounding verifier.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3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3400" y="35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ML 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3400" y="39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Rubric-based answer grading, misconception taxonomy and concept extraction.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3350000"/>
            <a:ext cx="3566160" cy="14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8160" y="35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Voice &amp; Video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8160" y="3990000"/>
            <a:ext cx="3246160" cy="7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Edge-TTS speech, LaTeX / code / graph boards and FFmpeg video composition.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950000"/>
            <a:ext cx="11064240" cy="138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950000"/>
            <a:ext cx="70000" cy="138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000" y="5040000"/>
            <a:ext cx="10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AI tools disclosure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000" y="5380000"/>
            <a:ext cx="10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•  In the product: Google Gemini API (planning, teaching, answer judging); BGE-M3 and multilingual-E5 embeddings; Edge-TTS voice.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5B6B7A"/>
                </a:solidFill>
                <a:latin typeface="Calibri"/>
              </a:rPr>
              <a:t>•  In development: Claude Code and Google Antigravity as AI coding assistants. All code was reviewed by the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E8A33D"/>
                </a:solidFill>
                <a:latin typeface="Calibri"/>
              </a:rPr>
              <a:t>OUTPUT QUALITY +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E3A5F"/>
                </a:solidFill>
                <a:latin typeface="Cambria"/>
              </a:rPr>
              <a:t>Results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B6B7A"/>
                </a:solidFill>
                <a:latin typeface="Calibri"/>
              </a:rPr>
              <a:t>The full teaching flow is verified end to end, not only the individual parts.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00000"/>
            <a:ext cx="2600000" cy="13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00000"/>
            <a:ext cx="260000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50000"/>
            <a:ext cx="26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Cambria"/>
              </a:rPr>
              <a:t>37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40" y="2550000"/>
            <a:ext cx="23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B7A"/>
                </a:solidFill>
                <a:latin typeface="Calibri"/>
              </a:rPr>
              <a:t>end-to-end checks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7000" y="1800000"/>
            <a:ext cx="2600000" cy="13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7000" y="1800000"/>
            <a:ext cx="260000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7000" y="1950000"/>
            <a:ext cx="26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Cambria"/>
              </a:rPr>
              <a:t>360+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7000" y="2550000"/>
            <a:ext cx="23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B7A"/>
                </a:solidFill>
                <a:latin typeface="Calibri"/>
              </a:rPr>
              <a:t>automated tests across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5000" y="1800000"/>
            <a:ext cx="2600000" cy="13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45000" y="1800000"/>
            <a:ext cx="260000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5000" y="1950000"/>
            <a:ext cx="26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5000" y="2550000"/>
            <a:ext cx="23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B7A"/>
                </a:solidFill>
                <a:latin typeface="Calibri"/>
              </a:rPr>
              <a:t>languages: English and Hindi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3000" y="1800000"/>
            <a:ext cx="2600000" cy="135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93000" y="1800000"/>
            <a:ext cx="260000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3000" y="1950000"/>
            <a:ext cx="26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Cambria"/>
              </a:rPr>
              <a:t>~350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000" y="2550000"/>
            <a:ext cx="23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B7A"/>
                </a:solidFill>
                <a:latin typeface="Calibri"/>
              </a:rPr>
              <a:t>peak memory of the hosted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00000"/>
            <a:ext cx="11064240" cy="28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000" y="3520000"/>
            <a:ext cx="10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What the end-to-end suite verifies</a:t>
            </a:r>
          </a:p>
        </p:txBody>
      </p:sp>
      <p:sp>
        <p:nvSpPr>
          <p:cNvPr id="23" name="Oval 22"/>
          <p:cNvSpPr/>
          <p:nvPr/>
        </p:nvSpPr>
        <p:spPr>
          <a:xfrm>
            <a:off x="820000" y="40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000" y="40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39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Sign-up, OTP verification, login and token refresh</a:t>
            </a:r>
          </a:p>
        </p:txBody>
      </p:sp>
      <p:sp>
        <p:nvSpPr>
          <p:cNvPr id="26" name="Oval 25"/>
          <p:cNvSpPr/>
          <p:nvPr/>
        </p:nvSpPr>
        <p:spPr>
          <a:xfrm>
            <a:off x="820000" y="47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000" y="47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0000" y="46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Document upload, concept extraction and lesson planning</a:t>
            </a:r>
          </a:p>
        </p:txBody>
      </p:sp>
      <p:sp>
        <p:nvSpPr>
          <p:cNvPr id="29" name="Oval 28"/>
          <p:cNvSpPr/>
          <p:nvPr/>
        </p:nvSpPr>
        <p:spPr>
          <a:xfrm>
            <a:off x="820000" y="54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000" y="54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0000" y="53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Live classroom with voice, board video and captions</a:t>
            </a:r>
          </a:p>
        </p:txBody>
      </p:sp>
      <p:sp>
        <p:nvSpPr>
          <p:cNvPr id="32" name="Oval 31"/>
          <p:cNvSpPr/>
          <p:nvPr/>
        </p:nvSpPr>
        <p:spPr>
          <a:xfrm>
            <a:off x="6300000" y="40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000" y="40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0000" y="39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Checkpoint questions, grading and the adaptation decision</a:t>
            </a:r>
          </a:p>
        </p:txBody>
      </p:sp>
      <p:sp>
        <p:nvSpPr>
          <p:cNvPr id="35" name="Oval 34"/>
          <p:cNvSpPr/>
          <p:nvPr/>
        </p:nvSpPr>
        <p:spPr>
          <a:xfrm>
            <a:off x="6300000" y="47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0" y="47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0000" y="46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Re-explanation, re-test and escalation to a mentor</a:t>
            </a:r>
          </a:p>
        </p:txBody>
      </p:sp>
      <p:sp>
        <p:nvSpPr>
          <p:cNvPr id="38" name="Oval 37"/>
          <p:cNvSpPr/>
          <p:nvPr/>
        </p:nvSpPr>
        <p:spPr>
          <a:xfrm>
            <a:off x="6300000" y="5420000"/>
            <a:ext cx="300000" cy="3000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000" y="542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0000" y="5390000"/>
            <a:ext cx="465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Assessment report, progress and resume after disconnect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Calibri"/>
              </a:rPr>
              <a:t>SHIKSHAK AI  ·  BUILD FAST WITH AI  ·  AI BUILD CHALLENGE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E8A33D"/>
                </a:solidFill>
                <a:latin typeface="Calibri"/>
              </a:rPr>
              <a:t>LIVE DEPLOYMENT +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E3A5F"/>
                </a:solidFill>
                <a:latin typeface="Cambria"/>
              </a:rPr>
              <a:t>Live, Runnable and Easy to Reproduce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Calibri"/>
              </a:rPr>
              <a:t>SHIKSHAK AI  ·  BUILD FAST WITH AI  ·  AI BUILD CHALLENGE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188720"/>
            <a:ext cx="1106424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B6B7A"/>
                </a:solidFill>
                <a:latin typeface="Calibri"/>
              </a:rPr>
              <a:t>Deployed online for anyone to try, with the full-quality build available locally.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750000"/>
            <a:ext cx="3566160" cy="15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4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Website  ·  Vercel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40" y="239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Next.js frontend served from a global CDN, always 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1750000"/>
            <a:ext cx="3566160" cy="15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340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Backend  ·  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3400" y="239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FastAPI with the live WebSocket classroom.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750000"/>
            <a:ext cx="3566160" cy="1500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8160" y="1900000"/>
            <a:ext cx="326616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AI Teacher  ·  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160" y="239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Google Gemini powers planning, teaching and grading.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450000"/>
            <a:ext cx="3566160" cy="13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450000"/>
            <a:ext cx="356616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40" y="3620000"/>
            <a:ext cx="324616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Live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40" y="398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The deployed web app, shared in the README and the submission form.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450000"/>
            <a:ext cx="3566160" cy="13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3450000"/>
            <a:ext cx="356616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3400" y="3620000"/>
            <a:ext cx="324616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Setup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3400" y="398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README covers clone, install, add a Gemini key and run, in a few commands.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450000"/>
            <a:ext cx="3566160" cy="13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450000"/>
            <a:ext cx="3566160" cy="6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8160" y="3620000"/>
            <a:ext cx="324616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3-minute demo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8160" y="3980000"/>
            <a:ext cx="3246160" cy="7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B6B7A"/>
                </a:solidFill>
                <a:latin typeface="Calibri"/>
              </a:rPr>
              <a:t>Sign in, create a lesson, answer a question, see the adaptation and the report.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00000"/>
            <a:ext cx="11064240" cy="12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000" y="5000000"/>
            <a:ext cx="10520000" cy="1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One codebase, two run modes: a lightweight hosted build for easy access, and the full-quality local build with BGE-M3 retrieval, reranking and 1080p avatar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CONCLUSION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Reimagining Personalised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6" name="Image 0" descr="/home/claude/shikshak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1875252"/>
            <a:ext cx="474025" cy="4740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receives a lesson matched to their level, pace, and goals — not a generic one-size-fits-all path.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11" name="Image 1" descr="/home/claude/shikshak/icons/hands_hel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172" y="187525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teaching support is available whenever a student needs it, without waiting on a tutor’s schedule.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2104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pic>
        <p:nvPicPr>
          <p:cNvPr id="16" name="Image 2" descr="/home/claude/shikshak/icons/chart_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212" y="1875252"/>
            <a:ext cx="474025" cy="4740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teaching system can support many individualized learning journeys at the same time, at low incremental cost.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22960" y="4023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turns AI from a question-answering tool into an adaptive teaching partner.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p/>
        </p:txBody>
      </p:sp>
      <p:pic>
        <p:nvPicPr>
          <p:cNvPr id="22" name="Image 3" descr="/home/claude/shikshak/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50" y="524317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516636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more subjects and Indian languages, teacher dashboards, and classroom pilots.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BUILD FAST WITH AI  ·  AI BUILD CHALLENGE 2026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630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577839" y="1324052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657" y="1420978"/>
            <a:ext cx="724205" cy="7242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SHIKSHAK AI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Teacher That Doesn’t Just Answer — It Teaches.</a:t>
            </a:r>
            <a:endParaRPr lang="en-US" sz="1500" dirty="0"/>
          </a:p>
        </p:txBody>
      </p:sp>
      <p:sp>
        <p:nvSpPr>
          <p:cNvPr id="11" name="Rounded Rectangle 10"/>
          <p:cNvSpPr/>
          <p:nvPr/>
        </p:nvSpPr>
        <p:spPr>
          <a:xfrm>
            <a:off x="2246000" y="4650000"/>
            <a:ext cx="3700000" cy="1050000"/>
          </a:xfrm>
          <a:prstGeom prst="roundRect">
            <a:avLst>
              <a:gd name="adj" fmla="val 8000"/>
            </a:avLst>
          </a:prstGeom>
          <a:solidFill>
            <a:srgbClr val="16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6000" y="4650000"/>
            <a:ext cx="60000" cy="105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000" y="4850000"/>
            <a:ext cx="335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Sagnik Chandra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000" y="5230000"/>
            <a:ext cx="335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FC9DD"/>
                </a:solidFill>
                <a:latin typeface="Calibri"/>
              </a:rPr>
              <a:t>Team Leader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4650000"/>
            <a:ext cx="3700000" cy="1050000"/>
          </a:xfrm>
          <a:prstGeom prst="roundRect">
            <a:avLst>
              <a:gd name="adj" fmla="val 8000"/>
            </a:avLst>
          </a:prstGeom>
          <a:solidFill>
            <a:srgbClr val="16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6000" y="4650000"/>
            <a:ext cx="60000" cy="105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6000" y="4850000"/>
            <a:ext cx="335000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Shrusti Jain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000" y="5230000"/>
            <a:ext cx="335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FC9DD"/>
                </a:solidFill>
                <a:latin typeface="Calibri"/>
              </a:rPr>
              <a:t>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50000"/>
            <a:ext cx="10515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FAFC9"/>
                </a:solidFill>
                <a:latin typeface="Calibri"/>
              </a:rPr>
              <a:t>Team Binary Brains  ·  Build Fast with AI: AI Build Challenge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9672"/>
            <a:ext cx="7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7FA3C4"/>
                </a:solidFill>
                <a:latin typeface="Calibri"/>
              </a:rPr>
              <a:t>SHIKSHAK AI  ·  BUILD FAST WITH AI  ·  AI BUILD CHALLENGE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7FA3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1368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Shrusti Jain</cp:lastModifiedBy>
  <cp:revision>3</cp:revision>
  <dcterms:created xsi:type="dcterms:W3CDTF">2026-09-05T14:51:16Z</dcterms:created>
  <dcterms:modified xsi:type="dcterms:W3CDTF">2026-09-05T15:04:24Z</dcterms:modified>
</cp:coreProperties>
</file>